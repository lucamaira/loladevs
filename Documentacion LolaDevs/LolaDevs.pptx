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Concurrencia acumulada</c:v>
                </c:pt>
              </c:strCache>
            </c:strRef>
          </c:tx>
          <c:spPr>
            <a:solidFill>
              <a:srgbClr val="31D7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7F9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Main Stage 1</c:v>
                </c:pt>
                <c:pt idx="1">
                  <c:v>Main Stage 2</c:v>
                </c:pt>
                <c:pt idx="2">
                  <c:v>Perry's Stage</c:v>
                </c:pt>
                <c:pt idx="3">
                  <c:v>Alternative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118</c:v>
                </c:pt>
                <c:pt idx="2">
                  <c:v>76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29-4495-A72B-79C4AB6B69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7CC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AB7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E3EE4-D8F2-4D36-A04F-13BE4168D7EA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43F51-F10A-41F2-A565-EB4BD3EAFC9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590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DD6C-464C-B7F9-64B3-67D7A304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E8EF1-D31F-BD63-7A36-3EF84FDCF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8DCC6-61A2-5012-A8F7-C15E578EC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LolaDevs_Documentacion.docx, documentación funcional y técnica final proporcionada por la autora.
- Visual on this slide was generated with Microsoft Copilot.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CB53F-1252-BE2D-666A-11321552C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3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FAFB5-7ADC-1F0E-5391-AD61577C7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FCA746-0FED-E2D8-100D-DCE53D11B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2161BA-9914-CD03-3FDF-97ADD431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E1A0F-7AFF-FBC3-F17B-AB59D12E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562B66-AE94-F862-8929-B12B486F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66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EE066-0440-14EA-C879-3EF27E8B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ED61D2-AED3-78E3-C099-41CC6F69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0BF3CC-DF6B-70A7-FE12-CBB67481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2011EB-DBDE-15D7-D3EE-192AA097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20F733-AE62-2605-99A2-2D4FDE1F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839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3B8CA-3360-BF47-63A4-F1F2E83E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835EDA-7717-6DE8-BF84-05B33D321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EE7126-16A5-63C7-56E9-13668794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984071-0E1A-A1C9-2307-ECBEAF7C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19A925-920C-C6E2-9C5F-C2983B39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863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AB337-7E78-9932-6272-07504556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8D9178-DFAA-EC36-7375-071AC49A5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D9BD8D-37F7-B14E-54A7-09B4C6F6E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C2C106-BF6F-877E-046B-1BA0A96D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34E72F-073D-3DCE-4F6A-43C0CD28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95584-346C-B8D7-08F1-19605C6E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704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A4AC2-AB90-3973-0182-61FE0D9D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E60F9D-FB85-D71B-0DEA-8C96E79B2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91FEE9-996B-3AC2-271F-A8AA835E9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6108D5-9DD0-794D-6F5C-464D3663D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6AECD1-343E-1C59-94E6-8187AF0E24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25B231-F90C-9314-17C5-EBE6AC91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239AFB-9E7C-F9DB-9D68-6E0EF8340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91BCEE-2170-C809-16F8-471EDE39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072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FDF5C-4FDF-AC98-0DA2-790DA715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B64B29-26A6-BA0A-517C-32C8299A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E57F1-B8D1-D9E9-F030-9B32414A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DC0CD2-FDAC-D7E5-31E7-C6BFDB13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48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83F6E5-7557-5255-7591-1A79288C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AD2E25-CCAE-BD32-A6D0-4B5154FE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AB2C59-CBA9-31A9-B051-72699DEA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360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7809D-F4C4-D93F-047C-05EA1859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9107E-D3AA-7BD5-32C1-0337D732D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0B393D-561D-0E4D-528B-DB6770900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A87EDF-D8BC-57F1-814D-DA189EE9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5B0F7B-A8AA-0DAC-9293-EA05FBDE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126445-765A-3668-0128-D832FCB5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402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8FAEF-C085-D484-6A64-1374D6F4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45BA3B-F7DE-1482-2C99-FBBA8A969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AEDDF3-EECC-CA34-69C8-4E2F889F2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A49D5B-E9E0-4B6E-EA6C-A67C87EE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C55F63-7BB9-0ED6-60EF-DF39D118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E45AEA-D1A3-12AF-6441-548AA7A7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271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A157F-D497-32ED-7CC8-606F1DC0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8C619D-A942-1EB5-0F3C-04FCB12D0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DB2880-38C9-2663-5DFB-3F28A013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381D7-DA24-2C24-FF4B-02E791C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26DABD-249F-8FDD-48BD-FA20472E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5413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552CF5-C24D-4893-4F2B-83141870F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E265E7-8E83-FF14-9CC7-98938A09C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62FDCC-FCBD-E54D-6490-75526011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36FCA7-02D0-D787-DC2F-C5300D18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04B84B-4409-73BC-26BF-A91530B8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419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71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8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LOLADEVS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6510528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8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ETAPA 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1202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D3AC670-D37F-D2FE-1CF7-DAE6BD5C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348CE7-BD8C-058E-C480-679929417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0640B-CF2A-1487-7B4E-9D2CFB40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D730-FFB4-4CE2-9820-89FC6014164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C74305-A72F-1822-3ED9-B4EC1D38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04279B-23E4-8A64-E521-CF8FD437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17410-871E-4734-8131-22EB03304B0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749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ladevs_work/5d3b7817fb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7">
              <a:alpha val="72000"/>
            </a:srgbClr>
          </a:solidFill>
          <a:ln w="12700">
            <a:solidFill>
              <a:srgbClr val="0712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71227">
              <a:alpha val="92000"/>
            </a:srgbClr>
          </a:solidFill>
          <a:ln w="12700">
            <a:solidFill>
              <a:srgbClr val="0712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58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72585">
              <a:alpha val="16000"/>
            </a:srgbClr>
          </a:solidFill>
          <a:ln w="12700">
            <a:solidFill>
              <a:srgbClr val="F72585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7132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2585"/>
                </a:solidFill>
              </a:rPr>
              <a:t>PROYECTO INTEGRADOR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" y="13258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7F9FC"/>
                </a:solidFill>
              </a:rPr>
              <a:t>LOLADEVS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58368" y="214884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7F9FC"/>
                </a:solidFill>
              </a:rPr>
              <a:t>Gestión de concurrencia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7F9FC"/>
                </a:solidFill>
              </a:rPr>
              <a:t>y accesos para festivales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E7F4"/>
                </a:solidFill>
              </a:rPr>
              <a:t>Un prototipo en Python que transforma datos simulados en decisiones claras sobre ocupación, capacidad y accesos.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4754880"/>
            <a:ext cx="914400" cy="9144"/>
          </a:xfrm>
          <a:prstGeom prst="line">
            <a:avLst/>
          </a:prstGeom>
          <a:noFill/>
          <a:ln w="50800">
            <a:solidFill>
              <a:srgbClr val="F725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7CC"/>
                </a:solidFill>
              </a:rPr>
              <a:t>LolaDevs · Etapa 1 · Consola + datos en memoria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01 ·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El desafío: ver el festival como un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Registrar no alcanza. La propuesta convierte mediciones dispersas en información consistente y accionable.</a:t>
            </a:r>
            <a:endParaRPr lang="en-US" sz="1250" dirty="0"/>
          </a:p>
        </p:txBody>
      </p:sp>
      <p:pic>
        <p:nvPicPr>
          <p:cNvPr id="5" name="Image 0" descr="/mnt/data/loladevs_work/69d80623c3.jpeg"/>
          <p:cNvPicPr>
            <a:picLocks noChangeAspect="1"/>
          </p:cNvPicPr>
          <p:nvPr/>
        </p:nvPicPr>
        <p:blipFill>
          <a:blip r:embed="rId3"/>
          <a:srcRect l="14184" r="14184"/>
          <a:stretch/>
        </p:blipFill>
        <p:spPr>
          <a:xfrm>
            <a:off x="6995160" y="1755648"/>
            <a:ext cx="46177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1755648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071227">
              <a:alpha val="32000"/>
            </a:srgbClr>
          </a:solidFill>
          <a:ln w="12700">
            <a:solidFill>
              <a:srgbClr val="3145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828800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828800"/>
            <a:ext cx="54864" cy="1170432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02996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Concurrencia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432304"/>
            <a:ext cx="2423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Mediciones por escenario y por día.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3182112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3182112"/>
            <a:ext cx="54864" cy="1170432"/>
          </a:xfrm>
          <a:prstGeom prst="rect">
            <a:avLst/>
          </a:prstGeom>
          <a:solidFill>
            <a:srgbClr val="FFCB47"/>
          </a:solidFill>
          <a:ln w="12700">
            <a:solidFill>
              <a:srgbClr val="FFCB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8328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Capacidad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3785616"/>
            <a:ext cx="2423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Ocupación calculada contra un máximo definido.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703320" y="1828800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03320" y="1828800"/>
            <a:ext cx="54864" cy="11704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202996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Accesos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931920" y="2432304"/>
            <a:ext cx="2423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Registros y disponibilidad por categoría y jornada.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703320" y="3182112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703320" y="3182112"/>
            <a:ext cx="54864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0" y="338328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Decisiones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931920" y="3785616"/>
            <a:ext cx="2423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Alertas, promedios, máximos y ranking.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58368" y="4800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2585"/>
                </a:solidFill>
              </a:rPr>
              <a:t>Resultado esperado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8368" y="5148072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9FC"/>
                </a:solidFill>
              </a:rPr>
              <a:t>Un estado actualizado según los últimos datos ingresados, sin confundir accesos con asistentes únicos.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02 · MODELO CONCEPTUAL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Dos conceptos, una sola visión operativa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La precisión del sistema parte de separar habilitaciones de ingreso y mediciones dentro del predio.</a:t>
            </a:r>
            <a:endParaRPr lang="en-US" sz="1250" dirty="0"/>
          </a:p>
        </p:txBody>
      </p:sp>
      <p:pic>
        <p:nvPicPr>
          <p:cNvPr id="5" name="Image 0" descr="/mnt/data/loladevs_work/9337afdd0d.jpeg"/>
          <p:cNvPicPr>
            <a:picLocks noChangeAspect="1"/>
          </p:cNvPicPr>
          <p:nvPr/>
        </p:nvPicPr>
        <p:blipFill>
          <a:blip r:embed="rId3"/>
          <a:srcRect t="28429" b="28429"/>
          <a:stretch/>
        </p:blipFill>
        <p:spPr>
          <a:xfrm>
            <a:off x="594360" y="1755648"/>
            <a:ext cx="11000232" cy="3163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55648"/>
            <a:ext cx="5413248" cy="3163824"/>
          </a:xfrm>
          <a:prstGeom prst="roundRect">
            <a:avLst>
              <a:gd name="adj" fmla="val 2312"/>
            </a:avLst>
          </a:prstGeom>
          <a:solidFill>
            <a:srgbClr val="071227">
              <a:alpha val="34000"/>
            </a:srgbClr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81344" y="1755648"/>
            <a:ext cx="5413248" cy="3163824"/>
          </a:xfrm>
          <a:prstGeom prst="roundRect">
            <a:avLst>
              <a:gd name="adj" fmla="val 2312"/>
            </a:avLst>
          </a:prstGeom>
          <a:solidFill>
            <a:srgbClr val="071227">
              <a:alpha val="34000"/>
            </a:srgbClr>
          </a:solidFill>
          <a:ln w="19050">
            <a:solidFill>
              <a:srgbClr val="31D7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2585"/>
                </a:solidFill>
              </a:rPr>
              <a:t>ACCESOS REGISTRADOS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C"/>
                </a:solidFill>
              </a:rPr>
              <a:t>Habilitaciones para ingresar al festival por categoría y jornada. Incluye entradas vendidas y acreditaciones de Prensa.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21031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1D7FF"/>
                </a:solidFill>
              </a:rPr>
              <a:t>CONCURRENCIA EN ESCENARIOS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37960" y="26974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C"/>
                </a:solidFill>
              </a:rPr>
              <a:t>Mediciones de público en ubicaciones específicas. Una persona puede aparecer en más de una medición durante el día.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828800" y="5230368"/>
            <a:ext cx="8549640" cy="667512"/>
          </a:xfrm>
          <a:prstGeom prst="roundRect">
            <a:avLst>
              <a:gd name="adj" fmla="val 10959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9968" y="54406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DEFF"/>
                </a:solidFill>
              </a:rPr>
              <a:t>La suma entre escenarios se informa como concurrencia acumulada registrada, no como asistentes únicos.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03 · ALCANCE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Qué resuelve esta primera etapa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Un alcance acotado, demostrable y alineado con los contenidos de programación.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101E38"/>
          </a:solidFill>
          <a:ln w="12700">
            <a:solidFill>
              <a:srgbClr val="263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842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2585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08176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Cargar y actualizar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08176" y="240487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Datos simulados y actualizaciones manuales.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3128" y="17830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101E38"/>
          </a:solidFill>
          <a:ln w="12700">
            <a:solidFill>
              <a:srgbClr val="263D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9842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D7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02936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Consultar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02936" y="240487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Escenarios, días, capacidades y accesos.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47888" y="17830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101E38"/>
          </a:solidFill>
          <a:ln w="12700">
            <a:solidFill>
              <a:srgbClr val="263D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9842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B47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97696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Analizar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97696" y="240487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Ocupación, acumulados, promedios y máximos.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118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101E38"/>
          </a:solidFill>
          <a:ln w="12700">
            <a:solidFill>
              <a:srgbClr val="263D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130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08176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Alertar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08176" y="423367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Alta ocupación desde el 90 %.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53128" y="36118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101E38"/>
          </a:solidFill>
          <a:ln w="12700">
            <a:solidFill>
              <a:srgbClr val="263D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8130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2D583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02936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Ordenar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02936" y="423367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Ranking acumulado y Top 3.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47888" y="36118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101E38"/>
          </a:solidFill>
          <a:ln w="12700">
            <a:solidFill>
              <a:srgbClr val="263D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0768" y="381304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6A"/>
                </a:solidFill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997696" y="3813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Validar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97696" y="423367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Errores claros sin cerrar la ejecución.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0120" y="5559552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0E2740"/>
          </a:solidFill>
          <a:ln w="12700">
            <a:solidFill>
              <a:srgbClr val="2848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705856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AB7CC"/>
                </a:solidFill>
              </a:rPr>
              <a:t>Fuera de alcance: persistencia, sensores, artistas, shows, horarios, precios y recaudación.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04 · DATOS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Estructuras simples, relaciones claras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Tuplas, listas paralelas y matrices permiten representar el festival sin persistencia externa.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1D7FF"/>
                </a:solidFill>
              </a:rPr>
              <a:t>Matriz de concurrencia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2084832"/>
          <a:ext cx="5349240" cy="2148840"/>
        </p:xfrm>
        <a:graphic>
          <a:graphicData uri="http://schemas.openxmlformats.org/drawingml/2006/table">
            <a:tbl>
              <a:tblPr/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Viernes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Sábado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Domingo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Main Stage 1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45.000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48.000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42.000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Main Stage 2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38.000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41.000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39.000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Perry's Stage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25.000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27.000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24.000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Alternative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18.000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20.000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7F9FC"/>
                          </a:solidFill>
                        </a:rPr>
                        <a:t>19.000</a:t>
                      </a:r>
                      <a:endParaRPr lang="en-US" sz="10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6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691640"/>
            <a:ext cx="5285232" cy="2816352"/>
          </a:xfrm>
          <a:prstGeom prst="roundRect">
            <a:avLst>
              <a:gd name="adj" fmla="val 2597"/>
            </a:avLst>
          </a:prstGeom>
          <a:solidFill>
            <a:srgbClr val="101E38"/>
          </a:solidFill>
          <a:ln w="12700">
            <a:solidFill>
              <a:srgbClr val="2D46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5392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2585"/>
                </a:solidFill>
              </a:rPr>
              <a:t>Mapa de relaciones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0" y="246888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72585">
              <a:alpha val="18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25786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2585"/>
                </a:solidFill>
              </a:rPr>
              <a:t>Tuplas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33488" y="25694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7F9FC"/>
                </a:solidFill>
              </a:rPr>
              <a:t>Días + categorías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979408" y="246888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31D7FF">
              <a:alpha val="18000"/>
            </a:srgbClr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89136" y="25786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D7FF"/>
                </a:solidFill>
              </a:rPr>
              <a:t>Listas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729216" y="25694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7F9FC"/>
                </a:solidFill>
              </a:rPr>
              <a:t>Código + nombre + capacidad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83680" y="33375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FCB47">
              <a:alpha val="18000"/>
            </a:srgbClr>
          </a:solidFill>
          <a:ln w="12700">
            <a:solidFill>
              <a:srgbClr val="FFCB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3408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B47"/>
                </a:solidFill>
              </a:rPr>
              <a:t>Matriz 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33488" y="34381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7F9FC"/>
                </a:solidFill>
              </a:rPr>
              <a:t>Escenarios × días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979408" y="33375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89136" y="3447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Matriz 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729216" y="34381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7F9FC"/>
                </a:solidFill>
              </a:rPr>
              <a:t>Categorías × días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5800" y="4956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9FC"/>
                </a:solidFill>
              </a:rPr>
              <a:t>4 escenarios · 3 días · 4 categorías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8580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7CC"/>
                </a:solidFill>
              </a:rPr>
              <a:t>Las capacidades y cupos son valores simulados para fines académicos y de prueba.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44000" y="52578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32D583">
              <a:alpha val="16000"/>
            </a:srgbClr>
          </a:solidFill>
          <a:ln w="12700">
            <a:solidFill>
              <a:srgbClr val="32D583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35440" y="53126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2D583"/>
                </a:solidFill>
              </a:rPr>
              <a:t>PROTOTIPO EN MEMORIA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05 · REGLAS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La lógica que protege la calidad del dato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Las reglas de negocio convierten cada ingreso en un resultado consistente.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01E38"/>
          </a:solidFill>
          <a:ln w="19050">
            <a:solidFill>
              <a:srgbClr val="32D5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2D583"/>
                </a:solidFill>
              </a:rPr>
              <a:t>&lt; 90 %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Operación normal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18288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01E38"/>
          </a:solidFill>
          <a:ln w="19050">
            <a:solidFill>
              <a:srgbClr val="FFC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B47"/>
                </a:solidFill>
              </a:rPr>
              <a:t>90 % a 100 %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85032" y="2606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Alerta preventiva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18504" y="18288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01E38"/>
          </a:solidFill>
          <a:ln w="19050">
            <a:solidFill>
              <a:srgbClr val="FF5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A6A"/>
                </a:solidFill>
              </a:rPr>
              <a:t>&gt; 100 %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01384" y="2606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Dato rechazado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82880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01E38"/>
          </a:solidFill>
          <a:ln w="19050">
            <a:solidFill>
              <a:srgbClr val="31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9448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D7FF"/>
                </a:solidFill>
              </a:rPr>
              <a:t>≥ 60 %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17736" y="2606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9FC"/>
                </a:solidFill>
              </a:rPr>
              <a:t>Objetivo de convocatoria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5204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520440"/>
            <a:ext cx="54864" cy="1572768"/>
          </a:xfrm>
          <a:prstGeom prst="rect">
            <a:avLst/>
          </a:prstGeom>
          <a:solidFill>
            <a:srgbClr val="31D7FF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2160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Actualización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123944"/>
            <a:ext cx="29718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La nueva concurrencia reemplaza la medición previa.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70832" y="35204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3520440"/>
            <a:ext cx="54864" cy="15727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72160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Registro de accesos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99432" y="4123944"/>
            <a:ext cx="29718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Se acumula sin superar el cupo disponible.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27264" y="35204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101E38"/>
          </a:solidFill>
          <a:ln w="12700">
            <a:solidFill>
              <a:srgbClr val="253A5C"/>
            </a:solidFill>
            <a:prstDash val="solid"/>
          </a:ln>
          <a:effectLst>
            <a:outerShdw blurRad="15240" dist="635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27264" y="3520440"/>
            <a:ext cx="54864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5864" y="372160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9FC"/>
                </a:solidFill>
              </a:rPr>
              <a:t>Manejo de errores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55864" y="4123944"/>
            <a:ext cx="29718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CC"/>
                </a:solidFill>
              </a:rPr>
              <a:t>Mensaje claro y retorno al menú, sin cerrar el programa.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1560" y="5596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9FC"/>
                </a:solidFill>
              </a:rPr>
              <a:t>Principio de diseño: validar antes de calcular, y explicar antes de continuar.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06 · INDICADORES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Del registro al análisis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Los datos de ejemplo permiten demostrar ocupación, acumulados y ranking.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8308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029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CC"/>
                </a:solidFill>
              </a:rPr>
              <a:t>Acumulado de los tres días (miles)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5080" y="178308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01E38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56832" y="20848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9FC"/>
                </a:solidFill>
              </a:rPr>
              <a:t>Lecturas clave del ejemplo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75120" y="2670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1D7FF"/>
                </a:solidFill>
              </a:rPr>
              <a:t>135 mil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09560" y="26883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F9FC"/>
                </a:solidFill>
              </a:rPr>
              <a:t>Mayor acumulado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464040" y="26883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7CC"/>
                </a:solidFill>
              </a:rPr>
              <a:t>Main Stage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75120" y="3429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B47"/>
                </a:solidFill>
              </a:rPr>
              <a:t>96 %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09560" y="3447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F9FC"/>
                </a:solidFill>
              </a:rPr>
              <a:t>Pico de ocupación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64040" y="3447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7CC"/>
                </a:solidFill>
              </a:rPr>
              <a:t>Main Stage 1 · sábado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41879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2585"/>
                </a:solidFill>
              </a:rPr>
              <a:t>136 mil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909560" y="4206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F9FC"/>
                </a:solidFill>
              </a:rPr>
              <a:t>Mayor total diario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46404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7CC"/>
                </a:solidFill>
              </a:rPr>
              <a:t>Sábado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675120" y="5257800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72585">
              <a:alpha val="18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85432" y="54315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9EA"/>
                </a:solidFill>
              </a:rPr>
              <a:t>Top 3 con lambda + slicing, contemplando empates.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07 · EXPERIENCIA DE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Un recorrido guiado desde la consola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El menú organiza las funciones en un flujo simple para cargar, consultar y analizar.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52728" y="1828800"/>
            <a:ext cx="713232" cy="713232"/>
          </a:xfrm>
          <a:prstGeom prst="ellipse">
            <a:avLst/>
          </a:prstGeom>
          <a:solidFill>
            <a:srgbClr val="F72585"/>
          </a:solidFill>
          <a:ln w="25400">
            <a:solidFill>
              <a:srgbClr val="071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200253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227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39112" y="2011680"/>
            <a:ext cx="594360" cy="292608"/>
          </a:xfrm>
          <a:prstGeom prst="chevron">
            <a:avLst/>
          </a:prstGeom>
          <a:solidFill>
            <a:srgbClr val="314866"/>
          </a:solidFill>
          <a:ln w="12700">
            <a:solidFill>
              <a:srgbClr val="3148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163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Ingresar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32461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7CC"/>
                </a:solidFill>
              </a:rPr>
              <a:t>Seleccionar una opción del menú.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57016" y="1828800"/>
            <a:ext cx="713232" cy="713232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71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00253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227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594360" cy="292608"/>
          </a:xfrm>
          <a:prstGeom prst="chevron">
            <a:avLst/>
          </a:prstGeom>
          <a:solidFill>
            <a:srgbClr val="314866"/>
          </a:solidFill>
          <a:ln w="12700">
            <a:solidFill>
              <a:srgbClr val="3148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28163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Validar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32461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7CC"/>
                </a:solidFill>
              </a:rPr>
              <a:t>Controlar escenario, día y cantidad.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61304" y="1828800"/>
            <a:ext cx="713232" cy="713232"/>
          </a:xfrm>
          <a:prstGeom prst="ellipse">
            <a:avLst/>
          </a:prstGeom>
          <a:solidFill>
            <a:srgbClr val="31D7FF"/>
          </a:solidFill>
          <a:ln w="25400">
            <a:solidFill>
              <a:srgbClr val="071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1304" y="200253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227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47688" y="2011680"/>
            <a:ext cx="594360" cy="292608"/>
          </a:xfrm>
          <a:prstGeom prst="chevron">
            <a:avLst/>
          </a:prstGeom>
          <a:solidFill>
            <a:srgbClr val="314866"/>
          </a:solidFill>
          <a:ln w="12700">
            <a:solidFill>
              <a:srgbClr val="3148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28163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Actualizar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76088" y="32461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7CC"/>
                </a:solidFill>
              </a:rPr>
              <a:t>Registrar concurrencia o accesos.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65592" y="1828800"/>
            <a:ext cx="713232" cy="713232"/>
          </a:xfrm>
          <a:prstGeom prst="ellipse">
            <a:avLst/>
          </a:prstGeom>
          <a:solidFill>
            <a:srgbClr val="32D583"/>
          </a:solidFill>
          <a:ln w="25400">
            <a:solidFill>
              <a:srgbClr val="071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200253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227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51976" y="2011680"/>
            <a:ext cx="594360" cy="292608"/>
          </a:xfrm>
          <a:prstGeom prst="chevron">
            <a:avLst/>
          </a:prstGeom>
          <a:solidFill>
            <a:srgbClr val="314866"/>
          </a:solidFill>
          <a:ln w="12700">
            <a:solidFill>
              <a:srgbClr val="3148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07224" y="28163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Consultar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0376" y="32461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7CC"/>
                </a:solidFill>
              </a:rPr>
              <a:t>Ver estado, capacidades y disponibilidad.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469880" y="1828800"/>
            <a:ext cx="713232" cy="713232"/>
          </a:xfrm>
          <a:prstGeom prst="ellipse">
            <a:avLst/>
          </a:prstGeom>
          <a:solidFill>
            <a:srgbClr val="FFCB47"/>
          </a:solidFill>
          <a:ln w="25400">
            <a:solidFill>
              <a:srgbClr val="071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200253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227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11512" y="28163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9FC"/>
                </a:solidFill>
              </a:rPr>
              <a:t>Analizar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84664" y="32461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7CC"/>
                </a:solidFill>
              </a:rPr>
              <a:t>Generar indicadores, ranking e informes.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4434840"/>
            <a:ext cx="10332720" cy="1097280"/>
          </a:xfrm>
          <a:prstGeom prst="roundRect">
            <a:avLst>
              <a:gd name="adj" fmla="val 6667"/>
            </a:avLst>
          </a:prstGeom>
          <a:solidFill>
            <a:srgbClr val="101E38"/>
          </a:solidFill>
          <a:ln w="12700">
            <a:solidFill>
              <a:srgbClr val="2E45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7000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</a:rPr>
              <a:t>Principales salidas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468172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9FC"/>
                </a:solidFill>
              </a:rPr>
              <a:t>Estado por escenario  •  Accesos disponibles  •  Alertas preventivas  •  Promedios  •  Ranking  •  Informes finales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F72585"/>
                </a:solidFill>
              </a:rPr>
              <a:t>08 · DISEÑO TÉCNICO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9FC"/>
                </a:solidFill>
              </a:rPr>
              <a:t>Modular para leer, mantener y probar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7CC"/>
                </a:solidFill>
              </a:rPr>
              <a:t>Cada archivo concentra una responsabilidad específica y evita mezclar datos, lógica y navegación.</a:t>
            </a:r>
            <a:endParaRPr lang="en-US" sz="1250" dirty="0"/>
          </a:p>
        </p:txBody>
      </p:sp>
      <p:pic>
        <p:nvPicPr>
          <p:cNvPr id="5" name="Image 0" descr="/mnt/data/loladevs_work/9aff671e04.jpeg"/>
          <p:cNvPicPr>
            <a:picLocks noChangeAspect="1"/>
          </p:cNvPicPr>
          <p:nvPr/>
        </p:nvPicPr>
        <p:blipFill>
          <a:blip r:embed="rId3"/>
          <a:srcRect l="8586" r="8586"/>
          <a:stretch/>
        </p:blipFill>
        <p:spPr>
          <a:xfrm>
            <a:off x="5989320" y="1600200"/>
            <a:ext cx="562356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60020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071227">
              <a:alpha val="55000"/>
            </a:srgbClr>
          </a:solidFill>
          <a:ln w="12700">
            <a:solidFill>
              <a:srgbClr val="2E446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3736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101E38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9202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2585"/>
                </a:solidFill>
              </a:rPr>
              <a:t>main.py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12848" y="1901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Menú, ingreso y coordinación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278892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101E38"/>
          </a:solidFill>
          <a:ln w="12700">
            <a:solidFill>
              <a:srgbClr val="31D7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D7FF"/>
                </a:solidFill>
              </a:rPr>
              <a:t>datos.py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12848" y="29535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Tuplas, listas, matrices y cupos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38404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101E38"/>
          </a:solidFill>
          <a:ln w="12700">
            <a:solidFill>
              <a:srgbClr val="FFCB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4023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B47"/>
                </a:solidFill>
              </a:rPr>
              <a:t>operaciones.py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4005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Cálculos, búsquedas, ranking e informes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489204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101E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5074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README.md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212848" y="50566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9FC"/>
                </a:solidFill>
              </a:rPr>
              <a:t>Descripción e instrucciones de ejecución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49808" y="5806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C"/>
                </a:solidFill>
              </a:rPr>
              <a:t>Tecnologías y técnicas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14600" y="57150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31D7FF">
              <a:alpha val="16000"/>
            </a:srgbClr>
          </a:solidFill>
          <a:ln w="12700">
            <a:solidFill>
              <a:srgbClr val="31D7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6040" y="57698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1D7FF"/>
                </a:solidFill>
              </a:rPr>
              <a:t>PYTHON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703320" y="57150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72585">
              <a:alpha val="16000"/>
            </a:srgbClr>
          </a:solidFill>
          <a:ln w="12700">
            <a:solidFill>
              <a:srgbClr val="F72585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94760" y="57698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2585"/>
                </a:solidFill>
              </a:rPr>
              <a:t>MATRICES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074920" y="571500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CB47">
              <a:alpha val="16000"/>
            </a:srgbClr>
          </a:solidFill>
          <a:ln w="12700">
            <a:solidFill>
              <a:srgbClr val="FFCB47">
                <a:alpha val="7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57698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B47"/>
                </a:solidFill>
              </a:rPr>
              <a:t>LAMBDA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ladevs_work/5d3b7817fb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7">
              <a:alpha val="82000"/>
            </a:srgbClr>
          </a:solidFill>
          <a:ln w="12700">
            <a:solidFill>
              <a:srgbClr val="07122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7">
              <a:alpha val="62000"/>
            </a:srgbClr>
          </a:solidFill>
          <a:ln w="12700">
            <a:solidFill>
              <a:srgbClr val="07122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47488" y="82296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72585">
              <a:alpha val="16000"/>
            </a:srgbClr>
          </a:solidFill>
          <a:ln w="12700">
            <a:solidFill>
              <a:srgbClr val="F72585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38928" y="8778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2585"/>
                </a:solidFill>
              </a:rPr>
              <a:t>CIERRE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20240" y="1508760"/>
            <a:ext cx="8366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7F9FC"/>
                </a:solidFill>
              </a:rPr>
              <a:t>Una base sólida para</a:t>
            </a:r>
            <a:endParaRPr lang="en-US" sz="35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F7F9FC"/>
                </a:solidFill>
              </a:rPr>
              <a:t>una gestión más inteligente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2148840" y="3154680"/>
            <a:ext cx="7909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DF8"/>
                </a:solidFill>
              </a:rPr>
              <a:t>LOLADEVS integra validaciones, estructuras de datos e indicadores en un prototipo claro, demostrable y preparado para evolucionar.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6596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071227">
              <a:alpha val="75000"/>
            </a:srgbClr>
          </a:solidFill>
          <a:ln w="19050">
            <a:solidFill>
              <a:srgbClr val="F725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400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2585"/>
                </a:solidFill>
              </a:rPr>
              <a:t>CLARO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57400" y="4965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</a:rPr>
              <a:t>Conceptos separados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071227">
              <a:alpha val="75000"/>
            </a:srgbClr>
          </a:solidFill>
          <a:ln w="19050">
            <a:solidFill>
              <a:srgbClr val="31D7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D7FF"/>
                </a:solidFill>
              </a:rPr>
              <a:t>SEGURO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4965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</a:rPr>
              <a:t>Datos validados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35240" y="44805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071227">
              <a:alpha val="75000"/>
            </a:srgbClr>
          </a:solidFill>
          <a:ln w="19050">
            <a:solidFill>
              <a:srgbClr val="FFCB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26680" y="4663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B47"/>
                </a:solidFill>
              </a:rPr>
              <a:t>ÚTIL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26680" y="4965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9FC"/>
                </a:solidFill>
              </a:rPr>
              <a:t>Indicadores accionables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9160" y="5806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9FC"/>
                </a:solidFill>
              </a:rPr>
              <a:t>Gracias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64591-5D9E-CA03-DDED-E9BD0969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ladevs_work/5d3b7817fb.jpeg">
            <a:extLst>
              <a:ext uri="{FF2B5EF4-FFF2-40B4-BE49-F238E27FC236}">
                <a16:creationId xmlns:a16="http://schemas.microsoft.com/office/drawing/2014/main" id="{1E1724EF-E7D3-035B-61A2-5CDCF630D3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4999C11-ADE9-0F9E-5821-8649306A75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7">
              <a:alpha val="82000"/>
            </a:srgbClr>
          </a:solidFill>
          <a:ln w="12700">
            <a:solidFill>
              <a:srgbClr val="071227">
                <a:alpha val="0"/>
              </a:srgbClr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5D40375-BDCF-9BA8-1C02-FE1ED21467B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7">
              <a:alpha val="62000"/>
            </a:srgbClr>
          </a:solidFill>
          <a:ln w="12700">
            <a:solidFill>
              <a:srgbClr val="071227">
                <a:alpha val="0"/>
              </a:srgbClr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54E3DB0-C387-47A9-6B9E-2AE4F0D981D0}"/>
              </a:ext>
            </a:extLst>
          </p:cNvPr>
          <p:cNvSpPr/>
          <p:nvPr/>
        </p:nvSpPr>
        <p:spPr>
          <a:xfrm>
            <a:off x="1912467" y="2811780"/>
            <a:ext cx="8366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7F9FC"/>
                </a:solidFill>
              </a:rPr>
              <a:t>GRACIAS TOTALES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28862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1108</Words>
  <Application>Microsoft Office PowerPoint</Application>
  <PresentationFormat>Panorámica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Fernández</dc:creator>
  <cp:lastModifiedBy>Guillermo Fernández</cp:lastModifiedBy>
  <cp:revision>1</cp:revision>
  <dcterms:created xsi:type="dcterms:W3CDTF">2026-09-09T23:44:38Z</dcterms:created>
  <dcterms:modified xsi:type="dcterms:W3CDTF">2026-09-09T23:46:33Z</dcterms:modified>
</cp:coreProperties>
</file>